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72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1" r:id="rId18"/>
  </p:sldIdLst>
  <p:sldSz cx="12192000" cy="6858000"/>
  <p:notesSz cx="6858000" cy="12192000"/>
  <p:embeddedFontLst>
    <p:embeddedFont>
      <p:font typeface="Funnel Display" panose="020B0604020202020204" charset="0"/>
      <p:regular r:id="rId20"/>
    </p:embeddedFont>
    <p:embeddedFont>
      <p:font typeface="Funnel Sans" panose="020B0604020202020204" charset="0"/>
      <p:regular r:id="rId21"/>
    </p:embeddedFont>
    <p:embeddedFont>
      <p:font typeface="Funnel Sans Bold" panose="020B0604020202020204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8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71ED1-234A-C5BA-8B5D-210192479285}" v="134" dt="2026-10-01T12:54:24.966"/>
    <p1510:client id="{B0EE090C-28C2-BD91-14B0-9C97D8CEBCD3}" v="4" dt="2026-09-30T17:54:12.959"/>
    <p1510:client id="{E494689B-DFEB-F74E-ACF2-77B0DEE88D36}" v="16" dt="2026-09-30T17:45:04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887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9CED-5142-C3C7-C05B-637ADD1C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46CD1-1D08-4AC6-B237-445951108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D34CA-854D-BC98-DB4F-FD337DB65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4E01E-1D8E-5541-4EE0-8024E044FD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02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1E6"/>
          </a:solidFill>
          <a:ln/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sv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sv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sv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1E6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1"/>
          <p:cNvSpPr/>
          <p:nvPr/>
        </p:nvSpPr>
        <p:spPr>
          <a:xfrm>
            <a:off x="393293" y="6521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 Advanced R for Econometricians —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1050032"/>
            <a:ext cx="10795524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Interactive Diagnostics for Linear and Logistic Regression Models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93293" y="2338288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────────────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224" y="2757984"/>
            <a:ext cx="2475247" cy="16502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086" y="4669929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Design, Implementation and Validation of the diag_lm Framework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98086" y="5188347"/>
            <a:ext cx="10795524" cy="754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500"/>
              </a:spcAft>
              <a:buNone/>
            </a:pPr>
            <a:r>
              <a:rPr lang="en-US" sz="13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Rezaul Hoque · Sarah Al-Talal · Thi Hong Cam Nguyen</a:t>
            </a:r>
            <a:endParaRPr lang="en-US" sz="13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50" i="1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University of Duisburg-Essen — Chair of Econometrics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6447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1"/>
          <p:cNvSpPr/>
          <p:nvPr/>
        </p:nvSpPr>
        <p:spPr>
          <a:xfrm>
            <a:off x="698086" y="892870"/>
            <a:ext cx="1134240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AGENDA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1175445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Presentation Overview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8086" y="2107505"/>
            <a:ext cx="5184844" cy="333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01 · Motivation — Why Model Diagnostics Matter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02 · The diag_lm Framework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03 · Different Models Need Different Diagnostics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04 · Validation with Known Ground Truth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05 · Linear Regression Validation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06 · Time-Series Validation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07 · Logistic Regression Validation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08 · From Framework to Interactive Application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15115" y="2107505"/>
            <a:ext cx="5184844" cy="246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09 · From Statistical Tests to Visual Diagnostics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 · Statistics First — AI Interpretation Second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11 · Real-Data Case Study: Hourly Wages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 · Diagnostics Guide Model Improvement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13 · What Did We Achieve?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14 · Thank You &amp; Questions</a:t>
            </a:r>
            <a:endParaRPr lang="en-US" sz="135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4673ADC-2F4F-BF5C-5202-F77D8932899E}"/>
              </a:ext>
            </a:extLst>
          </p:cNvPr>
          <p:cNvSpPr/>
          <p:nvPr/>
        </p:nvSpPr>
        <p:spPr>
          <a:xfrm>
            <a:off x="485434" y="840581"/>
            <a:ext cx="983630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6447"/>
            <a:ext cx="12191695" cy="6858000"/>
          </a:xfrm>
          <a:prstGeom prst="rect">
            <a:avLst/>
          </a:prstGeom>
          <a:solidFill>
            <a:srgbClr val="FAF1E6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956171"/>
            <a:ext cx="983630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802759" y="1008459"/>
            <a:ext cx="1383869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MOTIVATION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8086" y="129103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Model Diagnostics Matter</a:t>
            </a:r>
            <a:endParaRPr lang="en-US" sz="3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262386"/>
            <a:ext cx="305388" cy="3053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086" y="2764135"/>
            <a:ext cx="3886797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5B7FA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98086" y="3162002"/>
            <a:ext cx="327721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1E3A5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Assumption Violations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98086" y="3593207"/>
            <a:ext cx="327721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Heteroskedasticity, serial correlation, non-normality, and multicollinearity can undermine statistical inference.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84" y="2262386"/>
            <a:ext cx="305388" cy="3053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07484" y="2764135"/>
            <a:ext cx="3999011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407484" y="3162002"/>
            <a:ext cx="338942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1E3A5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Different Models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407484" y="3593207"/>
            <a:ext cx="3389426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Linear, logistic, time-series, and panel models each require distinct diagnostic procedures.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096" y="2262386"/>
            <a:ext cx="305388" cy="3053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096" y="2764135"/>
            <a:ext cx="3886797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E7D8C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8229096" y="3162002"/>
            <a:ext cx="327721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1E3A5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Manual Workflow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229096" y="3593207"/>
            <a:ext cx="327721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Running and interpreting separate tests repeatedly is time-consuming and error-prone.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98086" y="4784229"/>
            <a:ext cx="10795524" cy="697905"/>
          </a:xfrm>
          <a:prstGeom prst="roundRect">
            <a:avLst>
              <a:gd name="adj" fmla="val 10504"/>
            </a:avLst>
          </a:prstGeom>
          <a:solidFill>
            <a:srgbClr val="4781B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4"/>
          <p:cNvSpPr/>
          <p:nvPr/>
        </p:nvSpPr>
        <p:spPr>
          <a:xfrm>
            <a:off x="1265305" y="5002312"/>
            <a:ext cx="1066336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kern="0" spc="-27" dirty="0"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Our Goal:</a:t>
            </a:r>
            <a:r>
              <a:rPr lang="en-US" sz="1350" kern="0" spc="-27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350" kern="0" spc="-27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one reusable, interactive, and model-aware framework for regression diagnostics.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 pitchFamily="34" charset="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498277"/>
            <a:ext cx="776963" cy="198834"/>
          </a:xfrm>
          <a:prstGeom prst="roundRect">
            <a:avLst>
              <a:gd name="adj" fmla="val 22122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76566" y="537468"/>
            <a:ext cx="1229587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21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FRAMEWORK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98086" y="736302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2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diag_lm Framework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1379041"/>
            <a:ext cx="392698" cy="952500"/>
          </a:xfrm>
          <a:prstGeom prst="rect">
            <a:avLst/>
          </a:prstGeom>
          <a:noFill/>
        </p:spPr>
      </p:pic>
      <p:sp>
        <p:nvSpPr>
          <p:cNvPr id="8" name="Text 4"/>
          <p:cNvSpPr/>
          <p:nvPr/>
        </p:nvSpPr>
        <p:spPr>
          <a:xfrm>
            <a:off x="1188909" y="1509911"/>
            <a:ext cx="641443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Sans Bold"/>
                <a:ea typeface="Funnel Display" pitchFamily="34" charset="-122"/>
                <a:cs typeface="Funnel Display" pitchFamily="34" charset="-120"/>
              </a:rPr>
              <a:t>DATA</a:t>
            </a:r>
            <a:endParaRPr lang="en-US" sz="1200">
              <a:latin typeface="Funnel Sans Bold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88909" y="1800523"/>
            <a:ext cx="6414431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Example · Simulation · CSV</a:t>
            </a:r>
            <a:endParaRPr lang="en-US" sz="1000">
              <a:latin typeface="Funnel San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12" y="2238956"/>
            <a:ext cx="392698" cy="952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90328" y="2287128"/>
            <a:ext cx="6218082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Sans Bold"/>
                <a:ea typeface="Funnel Display" pitchFamily="34" charset="-122"/>
                <a:cs typeface="Funnel Display" pitchFamily="34" charset="-120"/>
              </a:rPr>
              <a:t>MODEL</a:t>
            </a:r>
            <a:endParaRPr lang="en-US" sz="1200" dirty="0">
              <a:latin typeface="Funnel Sans Bold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90328" y="2624996"/>
            <a:ext cx="6218082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lm/glm · plm · Time Series</a:t>
            </a:r>
            <a:endParaRPr lang="en-US" sz="1000">
              <a:latin typeface="Funnel Sans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23" y="3110686"/>
            <a:ext cx="392698" cy="952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1747" y="3111602"/>
            <a:ext cx="602173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3371A5"/>
                </a:solidFill>
                <a:latin typeface="Funnel Sans Bold"/>
                <a:ea typeface="Funnel Display" pitchFamily="34" charset="-122"/>
                <a:cs typeface="Funnel Display" pitchFamily="34" charset="-120"/>
              </a:rPr>
              <a:t>diag_lm</a:t>
            </a:r>
            <a:endParaRPr lang="en-US" sz="1200">
              <a:latin typeface="Funnel Sans Bold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191747" y="3490818"/>
            <a:ext cx="6021733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Detects model class and dispatches appropriate diagnostic methods</a:t>
            </a:r>
            <a:endParaRPr lang="en-US" sz="1000">
              <a:latin typeface="Funnel San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976507"/>
            <a:ext cx="392698" cy="952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7258" y="3977424"/>
            <a:ext cx="5825384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Sans Bold"/>
                <a:ea typeface="Funnel Display" pitchFamily="34" charset="-122"/>
                <a:cs typeface="Funnel Display" pitchFamily="34" charset="-120"/>
              </a:rPr>
              <a:t>DIAGNOSTICS</a:t>
            </a:r>
            <a:endParaRPr lang="en-US" sz="1200">
              <a:latin typeface="Funnel Sans Bold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187258" y="4362547"/>
            <a:ext cx="58253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Runs model-specific statistical tests and diagnostic plots</a:t>
            </a:r>
            <a:endParaRPr lang="en-US" sz="1000">
              <a:latin typeface="Funnel San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3" y="4887917"/>
            <a:ext cx="392698" cy="952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94678" y="4929847"/>
            <a:ext cx="602173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Sans Bold"/>
                <a:ea typeface="Funnel Display" pitchFamily="34" charset="-122"/>
                <a:cs typeface="Funnel Display" pitchFamily="34" charset="-120"/>
              </a:rPr>
              <a:t>RESULTS</a:t>
            </a:r>
            <a:endParaRPr lang="en-US" sz="1200">
              <a:latin typeface="Funnel Sans Bold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1194678" y="5277545"/>
            <a:ext cx="6021733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PASS/CHECK indicators and structured recommendations</a:t>
            </a:r>
            <a:endParaRPr lang="en-US" sz="1000">
              <a:latin typeface="Funnel San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28967" y="1379041"/>
            <a:ext cx="1736384" cy="1332409"/>
          </a:xfrm>
          <a:prstGeom prst="roundRect">
            <a:avLst>
              <a:gd name="adj" fmla="val 4126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15"/>
          <p:cNvSpPr/>
          <p:nvPr/>
        </p:nvSpPr>
        <p:spPr>
          <a:xfrm>
            <a:off x="8078883" y="1528961"/>
            <a:ext cx="1436552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S3 Architecture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078883" y="1819573"/>
            <a:ext cx="1436552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 model-specific method dispatch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9763476" y="1379041"/>
            <a:ext cx="1736384" cy="1332409"/>
          </a:xfrm>
          <a:prstGeom prst="roundRect">
            <a:avLst>
              <a:gd name="adj" fmla="val 4126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18"/>
          <p:cNvSpPr/>
          <p:nvPr/>
        </p:nvSpPr>
        <p:spPr>
          <a:xfrm>
            <a:off x="9913392" y="1528961"/>
            <a:ext cx="1436552" cy="384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Modular Computation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9913392" y="2012057"/>
            <a:ext cx="1436552" cy="549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Diagnostics are reusable and independently testable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928967" y="2809577"/>
            <a:ext cx="3570893" cy="773609"/>
          </a:xfrm>
          <a:prstGeom prst="roundRect">
            <a:avLst>
              <a:gd name="adj" fmla="val 7107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1"/>
          <p:cNvSpPr/>
          <p:nvPr/>
        </p:nvSpPr>
        <p:spPr>
          <a:xfrm>
            <a:off x="8078883" y="2959497"/>
            <a:ext cx="327106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Consistent Interface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8078883" y="3250109"/>
            <a:ext cx="3271061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workflow across multiple model families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7928967" y="3693616"/>
            <a:ext cx="357089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kern="0" spc="-21" dirty="0">
                <a:solidFill>
                  <a:srgbClr val="3371A5"/>
                </a:solidFill>
                <a:latin typeface="Funnel Sans"/>
                <a:ea typeface="Funnel Sans Bold" pitchFamily="34" charset="-122"/>
                <a:cs typeface="Funnel Sans Bold" pitchFamily="34" charset="-120"/>
              </a:rPr>
              <a:t>How it connects to the app:</a:t>
            </a:r>
            <a:r>
              <a:rPr lang="en-US" sz="1200" kern="0" spc="-21" dirty="0">
                <a:solidFill>
                  <a:srgbClr val="2B3541"/>
                </a:solidFill>
                <a:latin typeface="Funnel Sans"/>
                <a:ea typeface="Funnel Sans" pitchFamily="34" charset="-122"/>
                <a:cs typeface="Funnel Sans" pitchFamily="34" charset="-120"/>
              </a:rPr>
              <a:t> The Shiny app provides the interface; diag_lm acts as the statistical engine. User selections trigger the framework, which returns structured results.</a:t>
            </a:r>
            <a:endParaRPr lang="en-US" sz="1200">
              <a:latin typeface="Funnel Sans"/>
              <a:ea typeface="Calibri"/>
              <a:cs typeface="Calibri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393293" y="5919490"/>
            <a:ext cx="11405108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00" b="1" kern="0" spc="-2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One diagnostic engine powers multiple model-specific workflows within the same interactive application.</a:t>
            </a:r>
            <a:endParaRPr lang="en-US" sz="10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3FE79F72-42CC-D4E0-7191-5379F8E2B0A6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2678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1028799"/>
            <a:ext cx="1067170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802759" y="1081088"/>
            <a:ext cx="1467409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DIAGNOSTICS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8086" y="136366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Different Models Need Different Diagnostics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98086" y="2138660"/>
            <a:ext cx="2567915" cy="3270746"/>
          </a:xfrm>
          <a:prstGeom prst="roundRect">
            <a:avLst>
              <a:gd name="adj" fmla="val 285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878957" y="2319536"/>
            <a:ext cx="22061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01</a:t>
            </a: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LINEAR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8957" y="2680891"/>
            <a:ext cx="2206173" cy="22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Breusch-Pagan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Heteroskedasticity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Durbin-Watson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Serial correlation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Shapiro-Wilk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Residual normality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VIF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Multicollinearity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40523" y="2138660"/>
            <a:ext cx="2568015" cy="3270746"/>
          </a:xfrm>
          <a:prstGeom prst="roundRect">
            <a:avLst>
              <a:gd name="adj" fmla="val 285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3621394" y="2319536"/>
            <a:ext cx="220627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02</a:t>
            </a: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LOGISTIC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21394" y="2680891"/>
            <a:ext cx="2206272" cy="22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Hosmer-Lemeshow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Goodness of fit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ROC/AUC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Discrimination performance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Calibration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Predicted vs. observed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VIF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Multicollinearity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83059" y="2138660"/>
            <a:ext cx="2568015" cy="3270746"/>
          </a:xfrm>
          <a:prstGeom prst="roundRect">
            <a:avLst>
              <a:gd name="adj" fmla="val 285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363930" y="2319536"/>
            <a:ext cx="220627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03</a:t>
            </a: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TIME SERIES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63930" y="2680891"/>
            <a:ext cx="2206272" cy="2268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ADF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Stationarity / unit roots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Ljung-Box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Serial dependence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ACF/PACF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Autocorrelation structure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Normality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Residual distribution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925595" y="2138660"/>
            <a:ext cx="2568015" cy="3270746"/>
          </a:xfrm>
          <a:prstGeom prst="roundRect">
            <a:avLst>
              <a:gd name="adj" fmla="val 285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9106466" y="2319536"/>
            <a:ext cx="220627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04</a:t>
            </a: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PANEL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06466" y="2680891"/>
            <a:ext cx="2206272" cy="254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Panel LM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Pooled vs. panel structure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Hausman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Fixed vs. random effects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Panel Breusch-Godfrey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Serial correlation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Time-effects test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Time-specific effects</a:t>
            </a:r>
            <a:endParaRPr lang="en-US" sz="135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181E5CB-BF19-F8F2-4F76-7695BF3FEA37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982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518616"/>
            <a:ext cx="841850" cy="215305"/>
          </a:xfrm>
          <a:prstGeom prst="roundRect">
            <a:avLst>
              <a:gd name="adj" fmla="val 22132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83114" y="561082"/>
            <a:ext cx="128137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kern="0" spc="-22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FRAMEWORK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98086" y="779959"/>
            <a:ext cx="10795524" cy="417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22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Time Series and Panel Models Need Separate Diagnostics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98086" y="1369814"/>
            <a:ext cx="11405108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i="1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Their data structures introduce dependencies that standard cross-sectional diagnostics do not fully address.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8086" y="1820168"/>
            <a:ext cx="5224828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8086" y="2143919"/>
            <a:ext cx="5834413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Observations are ordered over time — errors and values may depend on past behavior.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036" y="2418854"/>
            <a:ext cx="5243877" cy="8355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965" y="2437904"/>
            <a:ext cx="5044949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Serial Correlation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77965" y="2761655"/>
            <a:ext cx="5044949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Are residuals correlated across time?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77965" y="3070920"/>
            <a:ext cx="5044949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5B7FA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Test: Ljung-Box / Breusch-Godfrey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036" y="3446661"/>
            <a:ext cx="5243877" cy="8355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965" y="3465711"/>
            <a:ext cx="5044949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Stationarity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77965" y="3789462"/>
            <a:ext cx="5044949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Are statistical properties stable over time?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77965" y="4098727"/>
            <a:ext cx="5044949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5B7FA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Test: ADF test</a:t>
            </a:r>
            <a:endParaRPr lang="en-US" sz="8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036" y="4474468"/>
            <a:ext cx="5243877" cy="8355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965" y="4493518"/>
            <a:ext cx="5044949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Dependence Structure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77965" y="4817269"/>
            <a:ext cx="5044949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10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How does correlation behave across lags?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77965" y="5126534"/>
            <a:ext cx="5044949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5B7FA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Test: ACF / PACF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75131" y="1820168"/>
            <a:ext cx="5224828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2E7D8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PANEL DATA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75131" y="2143919"/>
            <a:ext cx="5834413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Entities tracked over time — creating cross-sectional and temporal dependence.</a:t>
            </a:r>
            <a:endParaRPr lang="en-US" sz="8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6082" y="2418854"/>
            <a:ext cx="5243877" cy="83552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55010" y="2437904"/>
            <a:ext cx="5044949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2E7D8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Panel Structure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55010" y="2761655"/>
            <a:ext cx="5044949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 panel specification preferable to pooled OLS?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455010" y="3070920"/>
            <a:ext cx="5044949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4A9A8C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Test: Panel LM</a:t>
            </a:r>
            <a:endParaRPr lang="en-US" sz="8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6082" y="3446661"/>
            <a:ext cx="5243877" cy="8355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55010" y="3465711"/>
            <a:ext cx="5044949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2E7D8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Fixed vs. Random Effects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455010" y="3789462"/>
            <a:ext cx="5044949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Which panel specification is appropriate?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455010" y="4098727"/>
            <a:ext cx="5044949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4A9A8C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Test: Hausman test</a:t>
            </a:r>
            <a:endParaRPr lang="en-US" sz="8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6082" y="4474468"/>
            <a:ext cx="5243877" cy="83552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55010" y="4493518"/>
            <a:ext cx="5044949" cy="20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2" dirty="0">
                <a:solidFill>
                  <a:srgbClr val="2E7D8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Within-Entity Correlation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455010" y="4817269"/>
            <a:ext cx="5044949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Are errors correlated over time within entities?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6455010" y="5126534"/>
            <a:ext cx="5044949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kern="0" spc="-22" dirty="0">
                <a:solidFill>
                  <a:srgbClr val="4A9A8C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Test: Panel Breusch-Godfrey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698086" y="5550098"/>
            <a:ext cx="10795524" cy="495300"/>
          </a:xfrm>
          <a:prstGeom prst="roundRect">
            <a:avLst>
              <a:gd name="adj" fmla="val 12026"/>
            </a:avLst>
          </a:prstGeom>
          <a:solidFill>
            <a:srgbClr val="D8E7F3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66" y="5716290"/>
            <a:ext cx="177200" cy="1417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158846" y="5700713"/>
            <a:ext cx="10802568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Different data structures create different statistical problems - therefore diag_lm follows model-specific diagnostic paths.</a:t>
            </a:r>
            <a:endParaRPr lang="en-US" sz="11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8298A2B5-DDF3-4424-15ED-79CFA1B24CAE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553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1E6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641648"/>
            <a:ext cx="943944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802759" y="693936"/>
            <a:ext cx="1344182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8086" y="97651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Validation with Known Ground Truth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98086" y="1926034"/>
            <a:ext cx="540927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Validation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8086" y="2379067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98086" y="2656582"/>
            <a:ext cx="2617325" cy="19050"/>
          </a:xfrm>
          <a:prstGeom prst="rect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698086" y="2781895"/>
            <a:ext cx="261732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5B7FA6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Generate Baseline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8086" y="3213100"/>
            <a:ext cx="261732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 data, no violations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89932" y="2379067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489932" y="2656582"/>
            <a:ext cx="2617424" cy="19050"/>
          </a:xfrm>
          <a:prstGeom prst="rect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3489932" y="2781895"/>
            <a:ext cx="26174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Inject Violation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89932" y="3213100"/>
            <a:ext cx="26174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Introduce known assumption breach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8086" y="407689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98086" y="4354413"/>
            <a:ext cx="2617325" cy="19050"/>
          </a:xfrm>
          <a:prstGeom prst="rect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5"/>
          <p:cNvSpPr/>
          <p:nvPr/>
        </p:nvSpPr>
        <p:spPr>
          <a:xfrm>
            <a:off x="698086" y="4479727"/>
            <a:ext cx="261732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A5F8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Diagnose with diag_lm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8086" y="4910931"/>
            <a:ext cx="261732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Run full diagnostic suite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489932" y="4076898"/>
            <a:ext cx="349043" cy="218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489932" y="4354413"/>
            <a:ext cx="2617424" cy="19050"/>
          </a:xfrm>
          <a:prstGeom prst="rect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9"/>
          <p:cNvSpPr/>
          <p:nvPr/>
        </p:nvSpPr>
        <p:spPr>
          <a:xfrm>
            <a:off x="3489932" y="4479727"/>
            <a:ext cx="26174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E7D8C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Verify Against Truth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89932" y="4910931"/>
            <a:ext cx="26174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Compare results to known ground truth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539543" y="1926034"/>
            <a:ext cx="4960417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Violations Tested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539543" y="2357239"/>
            <a:ext cx="4960417" cy="202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kern="0" spc="-27" dirty="0">
                <a:solidFill>
                  <a:srgbClr val="5B7FA6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01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Heteroskedasticity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02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Multicollinearity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kern="0" spc="-27" dirty="0">
                <a:solidFill>
                  <a:srgbClr val="2A5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03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AR(1) Serial Correlation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kern="0" spc="-27" dirty="0">
                <a:solidFill>
                  <a:srgbClr val="2E7D8C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04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Unit Roots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05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Panel Effects</a:t>
            </a:r>
            <a:endParaRPr lang="en-US" sz="135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4AB42CA-B0CC-70F9-9C58-A1581C7EA436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6446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508794"/>
            <a:ext cx="1013792" cy="223738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86388" y="552946"/>
            <a:ext cx="1446772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RESULTS — OLS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98086" y="782141"/>
            <a:ext cx="10795524" cy="433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kern="0" spc="-2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Linear Regression Validation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98086" y="1401663"/>
            <a:ext cx="1140510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i="1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Injected violations produce the expected diagnostic response.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223" y="1758454"/>
            <a:ext cx="6627151" cy="230137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36" y="4320183"/>
            <a:ext cx="5237230" cy="9248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422" y="4339233"/>
            <a:ext cx="50328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83422" y="4679950"/>
            <a:ext cx="5032844" cy="54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BP p = 0.486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Random scatter → no heteroskedasticity detected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2729" y="4320183"/>
            <a:ext cx="5237230" cy="9248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67115" y="4339233"/>
            <a:ext cx="50328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HETEROSKEDASTICITY INJECTED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467115" y="4679950"/>
            <a:ext cx="5032844" cy="546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850"/>
              </a:spcAft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BP p ≈ 0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Funnel-shaped spread → violation detected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8501" y="5505351"/>
            <a:ext cx="1140510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90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Additional validation · Multicollinearity injected → Max VIF = 15.68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93293" y="5818684"/>
            <a:ext cx="1140510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50" b="1" kern="0" spc="-23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The diagnostics respond specifically to the violations introduced in simulation.</a:t>
            </a:r>
            <a:endParaRPr lang="en-US" sz="11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603ECF5-716A-7053-1B44-E6199CAEAAFE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6447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497979"/>
            <a:ext cx="1539340" cy="236141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91349" y="544612"/>
            <a:ext cx="19623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4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RESULTS — TIME SERIES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98086" y="789484"/>
            <a:ext cx="107955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Time-Series Validation: Detecting Serial Correlation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698086" y="1454348"/>
            <a:ext cx="1140510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i="1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AR(1) dependence was deliberately introduced to test whether diag_lm detects it.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75" y="1845171"/>
            <a:ext cx="6412447" cy="236755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36" y="4505027"/>
            <a:ext cx="5227209" cy="6401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1557" y="4524077"/>
            <a:ext cx="5014688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ACF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91557" y="4890988"/>
            <a:ext cx="501468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Slowly decaying autocorrelation → persistent serial dependence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2750" y="4505027"/>
            <a:ext cx="5227209" cy="6401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85271" y="4524077"/>
            <a:ext cx="5014688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PACF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485271" y="4890988"/>
            <a:ext cx="501468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Strong first lag → pattern consistent with a low-order AR process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93293" y="5437485"/>
            <a:ext cx="1140510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20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Breusch–Godfrey: p ≈ 0  ·  Ljung–Box: p ≈ 0  ·  Both tests reject the null of no serial correlation.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8501" y="5828308"/>
            <a:ext cx="11405108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9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ADF: Stationary AR(1) p = 0.010 · Random Walk p = 0.073</a:t>
            </a:r>
            <a:endParaRPr lang="en-US" sz="9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15C75D0-4A16-CC99-184B-46D1BF71FE95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5" y="342206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491430"/>
            <a:ext cx="1431393" cy="248444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96211" y="540445"/>
            <a:ext cx="1844728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RESULTS — LOGISTIC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8086" y="801191"/>
            <a:ext cx="10795524" cy="48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26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Logistic Regression Validation: Detecting Misspecification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684" y="1512590"/>
            <a:ext cx="6136229" cy="2258616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36" y="4097238"/>
            <a:ext cx="5217188" cy="9391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9792" y="4116288"/>
            <a:ext cx="4996432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99792" y="4510286"/>
            <a:ext cx="4996432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Residuals scatter randomly within the reference band → no systematic misspecification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2771" y="4109051"/>
            <a:ext cx="5217188" cy="9041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3527" y="4116288"/>
            <a:ext cx="4996432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OMITTED NONLINEARITY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503527" y="4510286"/>
            <a:ext cx="4996432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Systematic curvature appears → model misspecification detected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393293" y="5362377"/>
            <a:ext cx="11405108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250" b="1" kern="0" spc="-26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Hosmer–Lemeshow: p-value collapses when nonlinearity is omitted · Formal goodness-of-fit confirms the pattern in binned residuals.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88501" y="5788422"/>
            <a:ext cx="11405108" cy="20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9000"/>
              </a:lnSpc>
              <a:buNone/>
            </a:pPr>
            <a:r>
              <a:rPr lang="en-US" sz="1000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Multicollinearity injected → Max VIF = 18.60 · Baseline AUC = 0.894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776523A-C385-A6DD-8E53-D62666E4551C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488355"/>
            <a:ext cx="966466" cy="248444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96211" y="537369"/>
            <a:ext cx="1379801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8086" y="798116"/>
            <a:ext cx="10795524" cy="48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26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From Framework to Interactive Application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98086" y="1509514"/>
            <a:ext cx="11405108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i="1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Shiny interface turns the diagnostic framework into a guided workflow for data setup, model specification and analysis.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108101"/>
            <a:ext cx="5931744" cy="3287613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1907" y="2089051"/>
            <a:ext cx="1682609" cy="11926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82663" y="2108101"/>
            <a:ext cx="1461852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 — SETUP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182663" y="2502098"/>
            <a:ext cx="1461852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Choose example data, simulate data or upload a CSV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7152" y="2089051"/>
            <a:ext cx="1682708" cy="11926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37908" y="2108101"/>
            <a:ext cx="1461952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 — SPECIFY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0037908" y="2502098"/>
            <a:ext cx="1461952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Select the model family and configure variable types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1907" y="3550345"/>
            <a:ext cx="3537953" cy="9391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82663" y="3569395"/>
            <a:ext cx="3317197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26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 — PREVIEW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8182663" y="3963392"/>
            <a:ext cx="3317197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50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Inspect raw data, structure and statistical properties before modelling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7980957" y="4642941"/>
            <a:ext cx="3518903" cy="543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9000"/>
              </a:lnSpc>
              <a:spcAft>
                <a:spcPts val="1050"/>
              </a:spcAft>
              <a:buNone/>
            </a:pPr>
            <a:r>
              <a:rPr lang="en-US" sz="1000" b="1" kern="0" spc="-26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Setup</a:t>
            </a:r>
            <a:r>
              <a:rPr lang="en-US" sz="1000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Diagnostics → Transformation</a:t>
            </a:r>
            <a:endParaRPr lang="en-US" sz="1000" dirty="0"/>
          </a:p>
          <a:p>
            <a:pPr marL="0" indent="0" algn="ctr">
              <a:lnSpc>
                <a:spcPct val="129000"/>
              </a:lnSpc>
              <a:buNone/>
            </a:pPr>
            <a:r>
              <a:rPr lang="en-US" sz="1000" i="1" kern="0" spc="-2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interface from data preparation to model refinement.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93293" y="5740797"/>
            <a:ext cx="11405108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250" b="1" kern="0" spc="-26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Users can prepare data and specify the analysis before moving directly into model-aware diagnostics.</a:t>
            </a:r>
            <a:endParaRPr lang="en-US" sz="125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CC94445C-E804-CC1D-BA25-83779EE181F7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492026"/>
            <a:ext cx="950393" cy="244376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94623" y="540246"/>
            <a:ext cx="1366903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5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8086" y="795734"/>
            <a:ext cx="10795524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25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From Statistical Tests to Visual Diagnostics</a:t>
            </a:r>
            <a:endParaRPr lang="en-US" sz="2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1658243"/>
            <a:ext cx="6907437" cy="4176216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3190" y="1639193"/>
            <a:ext cx="3206670" cy="6704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11168" y="1658243"/>
            <a:ext cx="298869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LINEARITY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8511168" y="2043212"/>
            <a:ext cx="2988692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Residuals vs Fitted · look for patterns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3190" y="2568178"/>
            <a:ext cx="3206670" cy="6704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11168" y="2587228"/>
            <a:ext cx="298869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NORMALITY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511168" y="2972197"/>
            <a:ext cx="2988692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Q–Q + Histogram · check distribution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3190" y="3497163"/>
            <a:ext cx="3206670" cy="6704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11168" y="3516213"/>
            <a:ext cx="298869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CONSTANT VARIANCE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8511168" y="3901182"/>
            <a:ext cx="2988692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Scale–Location · check residual spread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3190" y="4426148"/>
            <a:ext cx="3206670" cy="67042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511168" y="4445198"/>
            <a:ext cx="298869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8511168" y="4830167"/>
            <a:ext cx="2988692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 checks complement formal tests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8312240" y="5244306"/>
            <a:ext cx="3187620" cy="593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kern="0" spc="-25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Example shown:</a:t>
            </a:r>
            <a:r>
              <a:rPr lang="en-US" sz="10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BP p = 0.1415 → no serious heteroskedasticity · Jarque–Bera p ≈ 0 → strong departure from normality</a:t>
            </a:r>
            <a:endParaRPr lang="en-US" sz="10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11E9A32-5A6B-9441-5B9D-EC747C1B8E0B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529034"/>
            <a:ext cx="1094256" cy="240308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92936" y="576461"/>
            <a:ext cx="1514139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5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INTEGRATION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98086" y="826591"/>
            <a:ext cx="10795524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25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Statistics First — AI Interpretation Second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98086" y="1506736"/>
            <a:ext cx="11405108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i="1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translates computed diagnostic results into a concise, plain-language interpretation and suggested actions.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070298"/>
            <a:ext cx="6940277" cy="18368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293" y="4068366"/>
            <a:ext cx="782697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00" b="1" kern="0" spc="-25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AI explains the diagnostics — it does not calculate or replace them.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8725" y="2051248"/>
            <a:ext cx="3211135" cy="6551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4025" y="2070298"/>
            <a:ext cx="2995835" cy="23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01 — COMPUTE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504025" y="2446238"/>
            <a:ext cx="299583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diag_lm runs the statistical diagnostics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8725" y="2954933"/>
            <a:ext cx="3211135" cy="8962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4025" y="2973983"/>
            <a:ext cx="2995835" cy="23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02 — SUMMARIZE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504025" y="3349923"/>
            <a:ext cx="299583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Only computed diagnostic results are prepared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8725" y="4099719"/>
            <a:ext cx="3211135" cy="8962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504025" y="4118769"/>
            <a:ext cx="2995835" cy="232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03 — INTERPRET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8504025" y="4494709"/>
            <a:ext cx="299583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explains findings and recommended actions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307775" y="5138142"/>
            <a:ext cx="3192085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9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OPT-IN · NO RAW DATA · WORKS WITHOUT API KEY</a:t>
            </a:r>
            <a:endParaRPr lang="en-US" sz="9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950" i="1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User-controlled · Diagnostic summaries only · AI remains optional</a:t>
            </a:r>
            <a:endParaRPr lang="en-US" sz="95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17BE0B64-D63A-FDB4-C8A4-4B366F9298D5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506512"/>
            <a:ext cx="839370" cy="227806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88075" y="551458"/>
            <a:ext cx="1268976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4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98086" y="785813"/>
            <a:ext cx="10795524" cy="4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Real-Data Case Study: Hourly Wages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393293" y="1420217"/>
            <a:ext cx="11405108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Model: log(hourly wage) ~ experience + age + female  ·  N = 832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0039" y="1788319"/>
            <a:ext cx="3533389" cy="749498"/>
          </a:xfrm>
          <a:prstGeom prst="roundRect">
            <a:avLst>
              <a:gd name="adj" fmla="val 14410"/>
            </a:avLst>
          </a:prstGeom>
          <a:solidFill>
            <a:srgbClr val="4781B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435163" y="1904305"/>
            <a:ext cx="3843142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150" b="1" kern="0" spc="-24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+0.95% / year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5163" y="2243435"/>
            <a:ext cx="3843142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00" kern="0" spc="-2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79594" y="1788319"/>
            <a:ext cx="3645007" cy="749498"/>
          </a:xfrm>
          <a:prstGeom prst="roundRect">
            <a:avLst>
              <a:gd name="adj" fmla="val 14410"/>
            </a:avLst>
          </a:prstGeom>
          <a:solidFill>
            <a:srgbClr val="4781B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4124718" y="1904305"/>
            <a:ext cx="395476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150" b="1" kern="0" spc="-24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+1.09% / year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24718" y="2243435"/>
            <a:ext cx="3954760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00" kern="0" spc="-2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80768" y="1788319"/>
            <a:ext cx="3533389" cy="749498"/>
          </a:xfrm>
          <a:prstGeom prst="roundRect">
            <a:avLst>
              <a:gd name="adj" fmla="val 14410"/>
            </a:avLst>
          </a:prstGeom>
          <a:solidFill>
            <a:srgbClr val="4781B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/>
          <p:nvPr/>
        </p:nvSpPr>
        <p:spPr>
          <a:xfrm>
            <a:off x="7925892" y="1904305"/>
            <a:ext cx="3843142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150" b="1" kern="0" spc="-24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−14.05%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25892" y="2243435"/>
            <a:ext cx="3843142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00" kern="0" spc="-2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Female indicator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827734"/>
            <a:ext cx="5742638" cy="20985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8086" y="5071269"/>
            <a:ext cx="6554127" cy="472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9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Residual spread changes across fitted values → consistent with heteroskedasticity</a:t>
            </a:r>
            <a:endParaRPr lang="en-US" sz="9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9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Q–Q tails deviate strongly from reference line → non-normal residuals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516426" y="2682776"/>
            <a:ext cx="4091480" cy="2977257"/>
          </a:xfrm>
          <a:prstGeom prst="roundRect">
            <a:avLst>
              <a:gd name="adj" fmla="val 3627"/>
            </a:avLst>
          </a:prstGeom>
          <a:solidFill>
            <a:srgbClr val="EBEC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6"/>
          <p:cNvSpPr/>
          <p:nvPr/>
        </p:nvSpPr>
        <p:spPr>
          <a:xfrm>
            <a:off x="7666342" y="2811661"/>
            <a:ext cx="3791649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Diagnostic Results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7666342" y="3161109"/>
            <a:ext cx="3791649" cy="124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[!] Breusch–Pagan — CHECK · Heteroskedasticity</a:t>
            </a:r>
            <a:endParaRPr lang="en-US" sz="1150" dirty="0"/>
          </a:p>
          <a:p>
            <a:pPr marL="0" indent="0" algn="l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[!] Shapiro–Wilk — CHECK · Non-normal residuals</a:t>
            </a:r>
            <a:endParaRPr lang="en-US" sz="1150" dirty="0"/>
          </a:p>
          <a:p>
            <a:pPr marL="0" indent="0" algn="l">
              <a:lnSpc>
                <a:spcPct val="124000"/>
              </a:lnSpc>
              <a:spcAft>
                <a:spcPts val="900"/>
              </a:spcAft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[OK] Durbin–Watson — PASS</a:t>
            </a:r>
            <a:endParaRPr lang="en-US" sz="11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[OK] VIF 4.13 — PASS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93293" y="5804991"/>
            <a:ext cx="11405108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15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The coefficients are interpretable, but diagnostics reveal remaining model problems that motivate re-specification.</a:t>
            </a:r>
            <a:endParaRPr lang="en-US" sz="115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F76003D-B094-A233-4A05-0461171455F9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1"/>
          <p:cNvSpPr/>
          <p:nvPr/>
        </p:nvSpPr>
        <p:spPr>
          <a:xfrm>
            <a:off x="698086" y="708323"/>
            <a:ext cx="1509972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802759" y="760611"/>
            <a:ext cx="1910211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REFINEMENT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8086" y="104318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Diagnostics Guide Model Improvement</a:t>
            </a:r>
            <a:endParaRPr lang="en-US" sz="3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014538"/>
            <a:ext cx="5745912" cy="30434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7314" y="4189674"/>
            <a:ext cx="1336994" cy="167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Initial Model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392629" y="4407217"/>
            <a:ext cx="1521679" cy="284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Baseline linear specification with experience.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021680" y="2380957"/>
            <a:ext cx="1336994" cy="167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Diagnose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6995" y="2598500"/>
            <a:ext cx="1521679" cy="284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 heteroskedasticity and normality of residuals.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246567" y="2380957"/>
            <a:ext cx="1336994" cy="167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Investigate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246567" y="2598500"/>
            <a:ext cx="1521679" cy="284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 transformations and alternative specifications.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83259" y="4189773"/>
            <a:ext cx="1336994" cy="167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Re-specify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83259" y="4407316"/>
            <a:ext cx="1521679" cy="284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Introduce nonlinear (quadratic) experience term.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876183" y="2014538"/>
            <a:ext cx="2224627" cy="1376759"/>
          </a:xfrm>
          <a:prstGeom prst="roundRect">
            <a:avLst>
              <a:gd name="adj" fmla="val 5325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3"/>
          <p:cNvSpPr/>
          <p:nvPr/>
        </p:nvSpPr>
        <p:spPr>
          <a:xfrm>
            <a:off x="7069754" y="2208113"/>
            <a:ext cx="183748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Experience β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069754" y="2639318"/>
            <a:ext cx="1837485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+0.0530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positive wage growth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9275332" y="2014538"/>
            <a:ext cx="2224627" cy="1376759"/>
          </a:xfrm>
          <a:prstGeom prst="roundRect">
            <a:avLst>
              <a:gd name="adj" fmla="val 5325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6"/>
          <p:cNvSpPr/>
          <p:nvPr/>
        </p:nvSpPr>
        <p:spPr>
          <a:xfrm>
            <a:off x="9468903" y="2208113"/>
            <a:ext cx="183748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Experience² β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468903" y="2639318"/>
            <a:ext cx="1837485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−0.0010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diminishing marginal return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876183" y="3587651"/>
            <a:ext cx="4623776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quadratic term captures a </a:t>
            </a:r>
            <a:r>
              <a:rPr lang="en-US" sz="135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concave earnings profile</a:t>
            </a: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wages rise with experience, but the marginal gain decreases over time — consistent with standard human capital theory.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393293" y="5450681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i="1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"Diagnostics are not simply PASS/FAIL checks — they guide model refinement."</a:t>
            </a:r>
            <a:endParaRPr lang="en-US" sz="135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6361526A-A384-0C17-BE57-89665939CE95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BBBDC-1F60-4FC2-9D36-196F99DC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27BE7BEC-ABD7-65D1-BCF3-10A0B39A1295}"/>
              </a:ext>
            </a:extLst>
          </p:cNvPr>
          <p:cNvSpPr/>
          <p:nvPr/>
        </p:nvSpPr>
        <p:spPr>
          <a:xfrm>
            <a:off x="698086" y="507504"/>
            <a:ext cx="1024606" cy="256877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3371A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D91BC61-6339-6B63-4D5C-13B009FB6830}"/>
              </a:ext>
            </a:extLst>
          </p:cNvPr>
          <p:cNvSpPr/>
          <p:nvPr/>
        </p:nvSpPr>
        <p:spPr>
          <a:xfrm>
            <a:off x="799485" y="558205"/>
            <a:ext cx="1431393" cy="15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1862999-D442-20D8-9FC4-9F599F7634B8}"/>
              </a:ext>
            </a:extLst>
          </p:cNvPr>
          <p:cNvSpPr/>
          <p:nvPr/>
        </p:nvSpPr>
        <p:spPr>
          <a:xfrm>
            <a:off x="692179" y="1007075"/>
            <a:ext cx="10795524" cy="49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Did We Achieve?</a:t>
            </a:r>
            <a:endParaRPr lang="en-US" sz="31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400E0BB-E3D5-6963-2F0C-1013D6E481A9}"/>
              </a:ext>
            </a:extLst>
          </p:cNvPr>
          <p:cNvSpPr/>
          <p:nvPr/>
        </p:nvSpPr>
        <p:spPr>
          <a:xfrm>
            <a:off x="639016" y="1891793"/>
            <a:ext cx="3489337" cy="1230114"/>
          </a:xfrm>
          <a:prstGeom prst="roundRect">
            <a:avLst>
              <a:gd name="adj" fmla="val 5773"/>
            </a:avLst>
          </a:prstGeom>
          <a:solidFill>
            <a:srgbClr val="FAF5EB"/>
          </a:solidFill>
          <a:ln w="12700">
            <a:solidFill>
              <a:srgbClr val="4781B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63C6AC5-94DD-3FC7-2991-789BCBCF6EE8}"/>
              </a:ext>
            </a:extLst>
          </p:cNvPr>
          <p:cNvSpPr/>
          <p:nvPr/>
        </p:nvSpPr>
        <p:spPr>
          <a:xfrm>
            <a:off x="814430" y="2067211"/>
            <a:ext cx="3138508" cy="248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Model-Aware</a:t>
            </a:r>
            <a:endParaRPr lang="en-US" sz="15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E4F610A-3480-AE37-F9E1-FC2B3CF83A13}"/>
              </a:ext>
            </a:extLst>
          </p:cNvPr>
          <p:cNvSpPr/>
          <p:nvPr/>
        </p:nvSpPr>
        <p:spPr>
          <a:xfrm>
            <a:off x="814430" y="2414080"/>
            <a:ext cx="3138508" cy="53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framework for linear, logistic, time-series, and panel diagnostics.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68149F6-EB38-4C20-BBF4-B58D66192326}"/>
              </a:ext>
            </a:extLst>
          </p:cNvPr>
          <p:cNvSpPr/>
          <p:nvPr/>
        </p:nvSpPr>
        <p:spPr>
          <a:xfrm>
            <a:off x="4292059" y="1891793"/>
            <a:ext cx="3489337" cy="1230114"/>
          </a:xfrm>
          <a:prstGeom prst="roundRect">
            <a:avLst>
              <a:gd name="adj" fmla="val 5773"/>
            </a:avLst>
          </a:prstGeom>
          <a:solidFill>
            <a:srgbClr val="FAF5EB"/>
          </a:solidFill>
          <a:ln w="12700">
            <a:solidFill>
              <a:srgbClr val="4781B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DE2FE80-3F5C-CFEF-7DD0-A7BCCB33C165}"/>
              </a:ext>
            </a:extLst>
          </p:cNvPr>
          <p:cNvSpPr/>
          <p:nvPr/>
        </p:nvSpPr>
        <p:spPr>
          <a:xfrm>
            <a:off x="4467474" y="2067211"/>
            <a:ext cx="3138508" cy="248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Validated</a:t>
            </a:r>
            <a:endParaRPr lang="en-US" sz="15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40E1C13-5C4C-09DA-F39A-030DE03A3F37}"/>
              </a:ext>
            </a:extLst>
          </p:cNvPr>
          <p:cNvSpPr/>
          <p:nvPr/>
        </p:nvSpPr>
        <p:spPr>
          <a:xfrm>
            <a:off x="4467474" y="2414080"/>
            <a:ext cx="3138508" cy="53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Controlled simulations, real data, and automated software testing.</a:t>
            </a:r>
            <a:endParaRPr lang="en-US" sz="13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D222432-A388-8BD0-3E59-DABF2C4AEA47}"/>
              </a:ext>
            </a:extLst>
          </p:cNvPr>
          <p:cNvSpPr/>
          <p:nvPr/>
        </p:nvSpPr>
        <p:spPr>
          <a:xfrm>
            <a:off x="7945103" y="1891793"/>
            <a:ext cx="3489436" cy="1230114"/>
          </a:xfrm>
          <a:prstGeom prst="roundRect">
            <a:avLst>
              <a:gd name="adj" fmla="val 5773"/>
            </a:avLst>
          </a:prstGeom>
          <a:solidFill>
            <a:srgbClr val="FAF5EB"/>
          </a:solidFill>
          <a:ln w="12700">
            <a:solidFill>
              <a:srgbClr val="4781B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C0FC9CD-947F-6DE9-1E0D-FE064583AA6D}"/>
              </a:ext>
            </a:extLst>
          </p:cNvPr>
          <p:cNvSpPr/>
          <p:nvPr/>
        </p:nvSpPr>
        <p:spPr>
          <a:xfrm>
            <a:off x="8120518" y="2067211"/>
            <a:ext cx="3138607" cy="248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Interactive</a:t>
            </a:r>
            <a:endParaRPr lang="en-US" sz="15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82CA282-15D2-15A2-1BA7-EA0CB7C5F643}"/>
              </a:ext>
            </a:extLst>
          </p:cNvPr>
          <p:cNvSpPr/>
          <p:nvPr/>
        </p:nvSpPr>
        <p:spPr>
          <a:xfrm>
            <a:off x="8120518" y="2414080"/>
            <a:ext cx="3138607" cy="53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Shiny interface with optional AI-assisted interpretation.</a:t>
            </a:r>
            <a:endParaRPr lang="en-US" sz="13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D415B334-5E9D-EE4C-AB95-50B11B6EBCDD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14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F7381E7-0260-500D-B50F-01E0791B2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2070"/>
            <a:ext cx="12192000" cy="186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3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10652"/>
            <a:ext cx="12191695" cy="6858000"/>
          </a:xfrm>
          <a:prstGeom prst="rect">
            <a:avLst/>
          </a:prstGeom>
          <a:solidFill>
            <a:srgbClr val="FAF5EB">
              <a:alpha val="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1"/>
          <p:cNvSpPr/>
          <p:nvPr/>
        </p:nvSpPr>
        <p:spPr>
          <a:xfrm>
            <a:off x="411006" y="1679945"/>
            <a:ext cx="11061524" cy="101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006" y="2548010"/>
            <a:ext cx="11061524" cy="101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52936" y="3367520"/>
            <a:ext cx="11686128" cy="55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i="1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We'd love to hear your thoughts, feedback, and questions</a:t>
            </a:r>
            <a:endParaRPr lang="en-US" sz="135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30B94A27-467F-3433-9C96-9CB13334C536}"/>
              </a:ext>
            </a:extLst>
          </p:cNvPr>
          <p:cNvSpPr/>
          <p:nvPr/>
        </p:nvSpPr>
        <p:spPr>
          <a:xfrm>
            <a:off x="393292" y="6227565"/>
            <a:ext cx="11405108" cy="223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kern="0" spc="-27" dirty="0">
                <a:solidFill>
                  <a:srgbClr val="2B3541"/>
                </a:solidFill>
                <a:latin typeface="Funnel Sans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1078</Words>
  <Application>Microsoft Office PowerPoint</Application>
  <PresentationFormat>Widescreen</PresentationFormat>
  <Paragraphs>212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Sarah Al-Talal</cp:lastModifiedBy>
  <cp:revision>77</cp:revision>
  <dcterms:created xsi:type="dcterms:W3CDTF">2026-09-30T17:34:25Z</dcterms:created>
  <dcterms:modified xsi:type="dcterms:W3CDTF">2026-10-01T13:02:42Z</dcterms:modified>
</cp:coreProperties>
</file>